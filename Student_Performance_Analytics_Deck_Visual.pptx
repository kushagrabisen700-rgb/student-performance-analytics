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8720" y="1463040"/>
            <a:ext cx="109728" cy="347472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54480" y="1371600"/>
            <a:ext cx="9144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2B6CB0"/>
                </a:solidFill>
              </a:defRPr>
            </a:pPr>
            <a:r>
              <a:t>PORTFOLIO EDA PROJECT 05</a:t>
            </a:r>
          </a:p>
          <a:p>
            <a:pPr>
              <a:spcAft>
                <a:spcPts val="1600"/>
              </a:spcAft>
              <a:defRPr sz="3600" b="1">
                <a:solidFill>
                  <a:srgbClr val="FFFFFF"/>
                </a:solidFill>
              </a:defRPr>
            </a:pPr>
            <a:r>
              <a:t>Student Performance &amp;</a:t>
            </a:r>
            <a:br/>
            <a:r>
              <a:t>Academic Analytics</a:t>
            </a:r>
          </a:p>
          <a:p>
            <a:pPr>
              <a:spcAft>
                <a:spcPts val="2800"/>
              </a:spcAft>
              <a:defRPr sz="1500">
                <a:solidFill>
                  <a:srgbClr val="E2E8F0"/>
                </a:solidFill>
              </a:defRPr>
            </a:pPr>
            <a:r>
              <a:t>Empirical Exploratory Analysis of Socio-Demographic and Behavioral Drivers of Student Success</a:t>
            </a:r>
          </a:p>
          <a:p>
            <a:pPr>
              <a:defRPr sz="1100">
                <a:solidFill>
                  <a:srgbClr val="718096"/>
                </a:solidFill>
              </a:defRPr>
            </a:pPr>
            <a:r>
              <a:t>Author: Kushagra Pratap Singh   |   Dataset: UCI Secondary Student Performance (N=1,044)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2B6CB0"/>
                </a:solidFill>
              </a:defRPr>
            </a:pPr>
            <a:r>
              <a:t>STUDENT PERFORMANCE &amp; ACADEMIC ANALYTICS</a:t>
            </a:r>
          </a:p>
          <a:p>
            <a:pPr>
              <a:defRPr sz="2200" b="1">
                <a:solidFill>
                  <a:srgbClr val="1A365D"/>
                </a:solidFill>
              </a:defRPr>
            </a:pPr>
            <a:r>
              <a:t>Research Objectives &amp; Core Analytical Dimensions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383280" cy="2011680"/>
          </a:xfrm>
          <a:prstGeom prst="roundRect">
            <a:avLst/>
          </a:prstGeom>
          <a:solidFill>
            <a:srgbClr val="F7FAFC"/>
          </a:solidFill>
          <a:ln w="1524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1A365D"/>
                </a:solidFill>
              </a:defRPr>
            </a:pPr>
            <a:r>
              <a:t>1. Grade Distributions</a:t>
            </a:r>
          </a:p>
          <a:p>
            <a:pPr>
              <a:defRPr sz="1050">
                <a:solidFill>
                  <a:srgbClr val="2D3748"/>
                </a:solidFill>
              </a:defRPr>
            </a:pPr>
            <a:r>
              <a:t>Examine final grade spread (G3) and compare passing rates (&gt;=10/20) between Math and Language.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383280" cy="2011680"/>
          </a:xfrm>
          <a:prstGeom prst="roundRect">
            <a:avLst/>
          </a:prstGeom>
          <a:solidFill>
            <a:srgbClr val="F7FAFC"/>
          </a:solidFill>
          <a:ln w="1524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0" y="182880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1A365D"/>
                </a:solidFill>
              </a:defRPr>
            </a:pPr>
            <a:r>
              <a:t>2. Study Time Elasticity</a:t>
            </a:r>
          </a:p>
          <a:p>
            <a:pPr>
              <a:defRPr sz="1050">
                <a:solidFill>
                  <a:srgbClr val="2D3748"/>
                </a:solidFill>
              </a:defRPr>
            </a:pPr>
            <a:r>
              <a:t>Quantify academic gains per study tier and identify points of diminishing returns beyond 10 hours.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383280" cy="2011680"/>
          </a:xfrm>
          <a:prstGeom prst="roundRect">
            <a:avLst/>
          </a:prstGeom>
          <a:solidFill>
            <a:srgbClr val="F7FAFC"/>
          </a:solidFill>
          <a:ln w="1524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0" y="182880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1A365D"/>
                </a:solidFill>
              </a:defRPr>
            </a:pPr>
            <a:r>
              <a:t>3. Attendance Dynamics</a:t>
            </a:r>
          </a:p>
          <a:p>
            <a:pPr>
              <a:defRPr sz="1050">
                <a:solidFill>
                  <a:srgbClr val="2D3748"/>
                </a:solidFill>
              </a:defRPr>
            </a:pPr>
            <a:r>
              <a:t>Resolve the attendance paradox by separating active test-takers from zero-grade exam dropouts.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3383280" cy="2011680"/>
          </a:xfrm>
          <a:prstGeom prst="roundRect">
            <a:avLst/>
          </a:prstGeom>
          <a:solidFill>
            <a:srgbClr val="F7FAFC"/>
          </a:solidFill>
          <a:ln w="1524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11480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1A365D"/>
                </a:solidFill>
              </a:defRPr>
            </a:pPr>
            <a:r>
              <a:t>4. Parental Background</a:t>
            </a:r>
          </a:p>
          <a:p>
            <a:pPr>
              <a:defRPr sz="1050">
                <a:solidFill>
                  <a:srgbClr val="2D3748"/>
                </a:solidFill>
              </a:defRPr>
            </a:pPr>
            <a:r>
              <a:t>Analyze the impact of maternal and paternal educational attainment and professions on outcomes.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3931920"/>
            <a:ext cx="3383280" cy="2011680"/>
          </a:xfrm>
          <a:prstGeom prst="roundRect">
            <a:avLst/>
          </a:prstGeom>
          <a:solidFill>
            <a:srgbClr val="F7FAFC"/>
          </a:solidFill>
          <a:ln w="1524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411480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1A365D"/>
                </a:solidFill>
              </a:defRPr>
            </a:pPr>
            <a:r>
              <a:t>5. Predictive History</a:t>
            </a:r>
          </a:p>
          <a:p>
            <a:pPr>
              <a:defRPr sz="1050">
                <a:solidFill>
                  <a:srgbClr val="2D3748"/>
                </a:solidFill>
              </a:defRPr>
            </a:pPr>
            <a:r>
              <a:t>Assess the deterministic correlation of Term 1 (G1) and Term 2 (G2) grades with final achievement.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3931920"/>
            <a:ext cx="3383280" cy="2011680"/>
          </a:xfrm>
          <a:prstGeom prst="roundRect">
            <a:avLst/>
          </a:prstGeom>
          <a:solidFill>
            <a:srgbClr val="F7FAFC"/>
          </a:solidFill>
          <a:ln w="1524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411480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1A365D"/>
                </a:solidFill>
              </a:defRPr>
            </a:pPr>
            <a:r>
              <a:t>6. Demographic Factors</a:t>
            </a:r>
          </a:p>
          <a:p>
            <a:pPr>
              <a:defRPr sz="1050">
                <a:solidFill>
                  <a:srgbClr val="2D3748"/>
                </a:solidFill>
              </a:defRPr>
            </a:pPr>
            <a:r>
              <a:t>Evaluate subject-specific performance disparities between male and female student cohorts.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2B6CB0"/>
                </a:solidFill>
              </a:defRPr>
            </a:pPr>
            <a:r>
              <a:t>STUDENT PERFORMANCE &amp; ACADEMIC ANALYTICS</a:t>
            </a:r>
          </a:p>
          <a:p>
            <a:pPr>
              <a:defRPr sz="2200" b="1">
                <a:solidFill>
                  <a:srgbClr val="1A365D"/>
                </a:solidFill>
              </a:defRPr>
            </a:pPr>
            <a:r>
              <a:t>Dataset Architecture &amp; Preprocessing Methodology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663440"/>
          </a:xfrm>
          <a:prstGeom prst="roundRect">
            <a:avLst/>
          </a:prstGeom>
          <a:solidFill>
            <a:srgbClr val="F7FAFC"/>
          </a:solidFill>
          <a:ln w="1524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4572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1A365D"/>
                </a:solidFill>
              </a:defRPr>
            </a:pPr>
            <a:r>
              <a:t>•  1,044 Unified Evaluations</a:t>
            </a:r>
          </a:p>
          <a:p>
            <a:pPr>
              <a:spcAft>
                <a:spcPts val="1000"/>
              </a:spcAft>
              <a:defRPr sz="1000">
                <a:solidFill>
                  <a:srgbClr val="2D3748"/>
                </a:solidFill>
              </a:defRPr>
            </a:pPr>
            <a:r>
              <a:t>   Combined Mathematics (395 records) and Portuguese Language (649 records) with full 100% attribute completeness (0 nulls, 0 duplicates).</a:t>
            </a:r>
          </a:p>
          <a:p>
            <a:pPr>
              <a:spcAft>
                <a:spcPts val="200"/>
              </a:spcAft>
              <a:defRPr sz="1200" b="1">
                <a:solidFill>
                  <a:srgbClr val="1A365D"/>
                </a:solidFill>
              </a:defRPr>
            </a:pPr>
            <a:r>
              <a:t>•  382 Dual-Enrolled Cohort</a:t>
            </a:r>
          </a:p>
          <a:p>
            <a:pPr>
              <a:spcAft>
                <a:spcPts val="1000"/>
              </a:spcAft>
              <a:defRPr sz="1000">
                <a:solidFill>
                  <a:srgbClr val="2D3748"/>
                </a:solidFill>
              </a:defRPr>
            </a:pPr>
            <a:r>
              <a:t>   Merged across 13 demographic anchor keys per Cortez &amp; Silva specification to track students enrolled concurrently in both subjects.</a:t>
            </a:r>
          </a:p>
          <a:p>
            <a:pPr>
              <a:spcAft>
                <a:spcPts val="200"/>
              </a:spcAft>
              <a:defRPr sz="1200" b="1">
                <a:solidFill>
                  <a:srgbClr val="1A365D"/>
                </a:solidFill>
              </a:defRPr>
            </a:pPr>
            <a:r>
              <a:t>•  Dropout Isolation (53 Total)</a:t>
            </a:r>
          </a:p>
          <a:p>
            <a:pPr>
              <a:spcAft>
                <a:spcPts val="1000"/>
              </a:spcAft>
              <a:defRPr sz="1000">
                <a:solidFill>
                  <a:srgbClr val="2D3748"/>
                </a:solidFill>
              </a:defRPr>
            </a:pPr>
            <a:r>
              <a:t>   Isolated 38 zero-grade entries in Math (9.6%) and 15 in Language (2.3%) as exam non-attenders rather than normal academic struggle.</a:t>
            </a:r>
          </a:p>
          <a:p>
            <a:pPr>
              <a:spcAft>
                <a:spcPts val="200"/>
              </a:spcAft>
              <a:defRPr sz="1200" b="1">
                <a:solidFill>
                  <a:srgbClr val="1A365D"/>
                </a:solidFill>
              </a:defRPr>
            </a:pPr>
            <a:r>
              <a:t>•  Feature Engineering</a:t>
            </a:r>
          </a:p>
          <a:p>
            <a:pPr>
              <a:spcAft>
                <a:spcPts val="1000"/>
              </a:spcAft>
              <a:defRPr sz="1000">
                <a:solidFill>
                  <a:srgbClr val="2D3748"/>
                </a:solidFill>
              </a:defRPr>
            </a:pPr>
            <a:r>
              <a:t>   Constructed binary passing markers (G3 &gt;= 10), term progression deltas (G3 - G1), and composite parental education indices ((Medu + Fedu)/2).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663440"/>
          </a:xfrm>
          <a:prstGeom prst="roundRect">
            <a:avLst/>
          </a:prstGeom>
          <a:solidFill>
            <a:srgbClr val="F7FAFC"/>
          </a:solidFill>
          <a:ln w="1524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14_heatmap_corre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828800"/>
            <a:ext cx="4846320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2B6CB0"/>
                </a:solidFill>
              </a:defRPr>
            </a:pPr>
            <a:r>
              <a:t>STUDENT PERFORMANCE &amp; ACADEMIC ANALYTICS</a:t>
            </a:r>
          </a:p>
          <a:p>
            <a:pPr>
              <a:defRPr sz="2200" b="1">
                <a:solidFill>
                  <a:srgbClr val="1A365D"/>
                </a:solidFill>
              </a:defRPr>
            </a:pPr>
            <a:r>
              <a:t>Academic Disparities Across Curricula (Math vs. Language)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663440"/>
          </a:xfrm>
          <a:prstGeom prst="roundRect">
            <a:avLst/>
          </a:prstGeom>
          <a:solidFill>
            <a:srgbClr val="F7FAFC"/>
          </a:solidFill>
          <a:ln w="1524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4572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1A365D"/>
                </a:solidFill>
              </a:defRPr>
            </a:pPr>
            <a:r>
              <a:t>•  Curriculum Performance Gap</a:t>
            </a:r>
          </a:p>
          <a:p>
            <a:pPr>
              <a:spcAft>
                <a:spcPts val="1000"/>
              </a:spcAft>
              <a:defRPr sz="1000">
                <a:solidFill>
                  <a:srgbClr val="2D3748"/>
                </a:solidFill>
              </a:defRPr>
            </a:pPr>
            <a:r>
              <a:t>   Portuguese Language records significantly higher overall mastery (mean: 11.91, pass rate: 84.59%) compared to Mathematics (mean: 10.42, pass rate: 67.09%).</a:t>
            </a:r>
          </a:p>
          <a:p>
            <a:pPr>
              <a:spcAft>
                <a:spcPts val="200"/>
              </a:spcAft>
              <a:defRPr sz="1200" b="1">
                <a:solidFill>
                  <a:srgbClr val="1A365D"/>
                </a:solidFill>
              </a:defRPr>
            </a:pPr>
            <a:r>
              <a:t>•  Extreme Grade Dispersion</a:t>
            </a:r>
          </a:p>
          <a:p>
            <a:pPr>
              <a:spcAft>
                <a:spcPts val="1000"/>
              </a:spcAft>
              <a:defRPr sz="1000">
                <a:solidFill>
                  <a:srgbClr val="2D3748"/>
                </a:solidFill>
              </a:defRPr>
            </a:pPr>
            <a:r>
              <a:t>   Math exhibits 41% higher standard deviation (4.58 vs. 3.23), demonstrating greater difficulty and student polarization.</a:t>
            </a:r>
          </a:p>
          <a:p>
            <a:pPr>
              <a:spcAft>
                <a:spcPts val="200"/>
              </a:spcAft>
              <a:defRPr sz="1200" b="1">
                <a:solidFill>
                  <a:srgbClr val="1A365D"/>
                </a:solidFill>
              </a:defRPr>
            </a:pPr>
            <a:r>
              <a:t>•  4x Higher Dropout Rate</a:t>
            </a:r>
          </a:p>
          <a:p>
            <a:pPr>
              <a:spcAft>
                <a:spcPts val="1000"/>
              </a:spcAft>
              <a:defRPr sz="1000">
                <a:solidFill>
                  <a:srgbClr val="2D3748"/>
                </a:solidFill>
              </a:defRPr>
            </a:pPr>
            <a:r>
              <a:t>   38 Math students (9.62%) received a zero mark, compared to only 15 in Portuguese (2.31%), indicating Math as the primary academic failure risk.</a:t>
            </a:r>
          </a:p>
          <a:p>
            <a:pPr>
              <a:spcAft>
                <a:spcPts val="200"/>
              </a:spcAft>
              <a:defRPr sz="1200" b="1">
                <a:solidFill>
                  <a:srgbClr val="1A365D"/>
                </a:solidFill>
              </a:defRPr>
            </a:pPr>
            <a:r>
              <a:t>•  The 10/20 Passing Line</a:t>
            </a:r>
          </a:p>
          <a:p>
            <a:pPr>
              <a:spcAft>
                <a:spcPts val="1000"/>
              </a:spcAft>
              <a:defRPr sz="1000">
                <a:solidFill>
                  <a:srgbClr val="2D3748"/>
                </a:solidFill>
              </a:defRPr>
            </a:pPr>
            <a:r>
              <a:t>   Both subjects maintain a median score &gt;= 10, but Math's bottom quartile (IQR: 8-14) falls dangerously below the passing threshold.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663440"/>
          </a:xfrm>
          <a:prstGeom prst="roundRect">
            <a:avLst/>
          </a:prstGeom>
          <a:solidFill>
            <a:srgbClr val="F7FAFC"/>
          </a:solidFill>
          <a:ln w="1524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1_hist_final_gra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011680"/>
            <a:ext cx="484632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2B6CB0"/>
                </a:solidFill>
              </a:defRPr>
            </a:pPr>
            <a:r>
              <a:t>STUDENT PERFORMANCE &amp; ACADEMIC ANALYTICS</a:t>
            </a:r>
          </a:p>
          <a:p>
            <a:pPr>
              <a:defRPr sz="2200" b="1">
                <a:solidFill>
                  <a:srgbClr val="1A365D"/>
                </a:solidFill>
              </a:defRPr>
            </a:pPr>
            <a:r>
              <a:t>Predictive Trajectories &amp; Early Evaluation Lock-In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663440"/>
          </a:xfrm>
          <a:prstGeom prst="roundRect">
            <a:avLst/>
          </a:prstGeom>
          <a:solidFill>
            <a:srgbClr val="F7FAFC"/>
          </a:solidFill>
          <a:ln w="1524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4572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1A365D"/>
                </a:solidFill>
              </a:defRPr>
            </a:pPr>
            <a:r>
              <a:t>•  Baseline Grade Determinism</a:t>
            </a:r>
          </a:p>
          <a:p>
            <a:pPr>
              <a:spcAft>
                <a:spcPts val="1000"/>
              </a:spcAft>
              <a:defRPr sz="1000">
                <a:solidFill>
                  <a:srgbClr val="2D3748"/>
                </a:solidFill>
              </a:defRPr>
            </a:pPr>
            <a:r>
              <a:t>   Term 1 grade (G1) acts as an anchor (r = +0.801 with final G3). Performance is near-deterministic by Term 2 (G2 -&gt; G3: r = +0.905).</a:t>
            </a:r>
          </a:p>
          <a:p>
            <a:pPr>
              <a:spcAft>
                <a:spcPts val="200"/>
              </a:spcAft>
              <a:defRPr sz="1200" b="1">
                <a:solidFill>
                  <a:srgbClr val="1A365D"/>
                </a:solidFill>
              </a:defRPr>
            </a:pPr>
            <a:r>
              <a:t>•  The Severe Failure Penalty</a:t>
            </a:r>
          </a:p>
          <a:p>
            <a:pPr>
              <a:spcAft>
                <a:spcPts val="1000"/>
              </a:spcAft>
              <a:defRPr sz="1000">
                <a:solidFill>
                  <a:srgbClr val="2D3748"/>
                </a:solidFill>
              </a:defRPr>
            </a:pPr>
            <a:r>
              <a:t>   Prior subject failures correlate negatively with success (r = -0.360). Each prior failure penalizes final scores by an average of 2.19 points.</a:t>
            </a:r>
          </a:p>
          <a:p>
            <a:pPr>
              <a:spcAft>
                <a:spcPts val="200"/>
              </a:spcAft>
              <a:defRPr sz="1200" b="1">
                <a:solidFill>
                  <a:srgbClr val="1A365D"/>
                </a:solidFill>
              </a:defRPr>
            </a:pPr>
            <a:r>
              <a:t>•  Failure Degradation Spectrum</a:t>
            </a:r>
          </a:p>
          <a:p>
            <a:pPr>
              <a:spcAft>
                <a:spcPts val="1000"/>
              </a:spcAft>
              <a:defRPr sz="1000">
                <a:solidFill>
                  <a:srgbClr val="2D3748"/>
                </a:solidFill>
              </a:defRPr>
            </a:pPr>
            <a:r>
              <a:t>   Students with 0 prior failures average 11.02/20. With 1 failure, average drops to 8.83. With &gt;=2 failures, average drops below 7.50/20.</a:t>
            </a:r>
          </a:p>
          <a:p>
            <a:pPr>
              <a:spcAft>
                <a:spcPts val="200"/>
              </a:spcAft>
              <a:defRPr sz="1200" b="1">
                <a:solidFill>
                  <a:srgbClr val="1A365D"/>
                </a:solidFill>
              </a:defRPr>
            </a:pPr>
            <a:r>
              <a:t>•  Intervention Timeline Urgency</a:t>
            </a:r>
          </a:p>
          <a:p>
            <a:pPr>
              <a:spcAft>
                <a:spcPts val="1000"/>
              </a:spcAft>
              <a:defRPr sz="1000">
                <a:solidFill>
                  <a:srgbClr val="2D3748"/>
                </a:solidFill>
              </a:defRPr>
            </a:pPr>
            <a:r>
              <a:t>   Waiting for Term 2 or final exams to intervene is too late; academic coaching must trigger upon receiving Term 1 evaluations.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663440"/>
          </a:xfrm>
          <a:prstGeom prst="roundRect">
            <a:avLst/>
          </a:prstGeom>
          <a:solidFill>
            <a:srgbClr val="F7FAFC"/>
          </a:solidFill>
          <a:ln w="1524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5_box_failures_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011680"/>
            <a:ext cx="484632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2B6CB0"/>
                </a:solidFill>
              </a:defRPr>
            </a:pPr>
            <a:r>
              <a:t>STUDENT PERFORMANCE &amp; ACADEMIC ANALYTICS</a:t>
            </a:r>
          </a:p>
          <a:p>
            <a:pPr>
              <a:defRPr sz="2200" b="1">
                <a:solidFill>
                  <a:srgbClr val="1A365D"/>
                </a:solidFill>
              </a:defRPr>
            </a:pPr>
            <a:r>
              <a:t>The Attendance Paradox &amp; Diminishing Study Returns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663440"/>
          </a:xfrm>
          <a:prstGeom prst="roundRect">
            <a:avLst/>
          </a:prstGeom>
          <a:solidFill>
            <a:srgbClr val="F7FAFC"/>
          </a:solidFill>
          <a:ln w="1524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4572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1A365D"/>
                </a:solidFill>
              </a:defRPr>
            </a:pPr>
            <a:r>
              <a:t>•  The Attendance Paradox</a:t>
            </a:r>
          </a:p>
          <a:p>
            <a:pPr>
              <a:spcAft>
                <a:spcPts val="1000"/>
              </a:spcAft>
              <a:defRPr sz="1000">
                <a:solidFill>
                  <a:srgbClr val="2D3748"/>
                </a:solidFill>
              </a:defRPr>
            </a:pPr>
            <a:r>
              <a:t>   Raw correlation between absences and Math marks appears flat (r = +0.034). This is an ecological fallacy caused by the zero-grade dropouts.</a:t>
            </a:r>
          </a:p>
          <a:p>
            <a:pPr>
              <a:spcAft>
                <a:spcPts val="200"/>
              </a:spcAft>
              <a:defRPr sz="1200" b="1">
                <a:solidFill>
                  <a:srgbClr val="1A365D"/>
                </a:solidFill>
              </a:defRPr>
            </a:pPr>
            <a:r>
              <a:t>•  True Absenteeism Penalty</a:t>
            </a:r>
          </a:p>
          <a:p>
            <a:pPr>
              <a:spcAft>
                <a:spcPts val="1000"/>
              </a:spcAft>
              <a:defRPr sz="1000">
                <a:solidFill>
                  <a:srgbClr val="2D3748"/>
                </a:solidFill>
              </a:defRPr>
            </a:pPr>
            <a:r>
              <a:t>   Dropouts quit school early and accumulated 0 absences. When evaluating active examinees only, correlation flips to strongly negative (r = -0.213).</a:t>
            </a:r>
          </a:p>
          <a:p>
            <a:pPr>
              <a:spcAft>
                <a:spcPts val="200"/>
              </a:spcAft>
              <a:defRPr sz="1200" b="1">
                <a:solidFill>
                  <a:srgbClr val="1A365D"/>
                </a:solidFill>
              </a:defRPr>
            </a:pPr>
            <a:r>
              <a:t>•  Study Time Sweet Spot (5-10h)</a:t>
            </a:r>
          </a:p>
          <a:p>
            <a:pPr>
              <a:spcAft>
                <a:spcPts val="1000"/>
              </a:spcAft>
              <a:defRPr sz="1000">
                <a:solidFill>
                  <a:srgbClr val="2D3748"/>
                </a:solidFill>
              </a:defRPr>
            </a:pPr>
            <a:r>
              <a:t>   Average Math marks rise from 10.05 (&lt;2h) to 11.40 (5-10h/week). Portuguese scores rise from 10.84 to 13.23.</a:t>
            </a:r>
          </a:p>
          <a:p>
            <a:pPr>
              <a:spcAft>
                <a:spcPts val="200"/>
              </a:spcAft>
              <a:defRPr sz="1200" b="1">
                <a:solidFill>
                  <a:srgbClr val="1A365D"/>
                </a:solidFill>
              </a:defRPr>
            </a:pPr>
            <a:r>
              <a:t>•  Diminishing Returns (&gt;10h)</a:t>
            </a:r>
          </a:p>
          <a:p>
            <a:pPr>
              <a:spcAft>
                <a:spcPts val="1000"/>
              </a:spcAft>
              <a:defRPr sz="1000">
                <a:solidFill>
                  <a:srgbClr val="2D3748"/>
                </a:solidFill>
              </a:defRPr>
            </a:pPr>
            <a:r>
              <a:t>   Studying &gt;10 hours/week yields no additional grade advantage (11.26 in Math), proving that study efficiency matters more than raw volume.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663440"/>
          </a:xfrm>
          <a:prstGeom prst="roundRect">
            <a:avLst/>
          </a:prstGeom>
          <a:solidFill>
            <a:srgbClr val="F7FAFC"/>
          </a:solidFill>
          <a:ln w="1524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13_scatter_absences_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011680"/>
            <a:ext cx="484632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2B6CB0"/>
                </a:solidFill>
              </a:defRPr>
            </a:pPr>
            <a:r>
              <a:t>STUDENT PERFORMANCE &amp; ACADEMIC ANALYTICS</a:t>
            </a:r>
          </a:p>
          <a:p>
            <a:pPr>
              <a:defRPr sz="2200" b="1">
                <a:solidFill>
                  <a:srgbClr val="1A365D"/>
                </a:solidFill>
              </a:defRPr>
            </a:pPr>
            <a:r>
              <a:t>Socio-Economic Gradients &amp; Demographic Divergence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663440"/>
          </a:xfrm>
          <a:prstGeom prst="roundRect">
            <a:avLst/>
          </a:prstGeom>
          <a:solidFill>
            <a:srgbClr val="F7FAFC"/>
          </a:solidFill>
          <a:ln w="1524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4572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1A365D"/>
                </a:solidFill>
              </a:defRPr>
            </a:pPr>
            <a:r>
              <a:t>•  Maternal Education Influence</a:t>
            </a:r>
          </a:p>
          <a:p>
            <a:pPr>
              <a:spcAft>
                <a:spcPts val="1000"/>
              </a:spcAft>
              <a:defRPr sz="1000">
                <a:solidFill>
                  <a:srgbClr val="2D3748"/>
                </a:solidFill>
              </a:defRPr>
            </a:pPr>
            <a:r>
              <a:t>   Mother's education (Medu: r = +0.217) exerts a stronger correlation with student grades than Father's education (Fedu: r = +0.152).</a:t>
            </a:r>
          </a:p>
          <a:p>
            <a:pPr>
              <a:spcAft>
                <a:spcPts val="200"/>
              </a:spcAft>
              <a:defRPr sz="1200" b="1">
                <a:solidFill>
                  <a:srgbClr val="1A365D"/>
                </a:solidFill>
              </a:defRPr>
            </a:pPr>
            <a:r>
              <a:t>•  The Dual-Degree Advantage</a:t>
            </a:r>
          </a:p>
          <a:p>
            <a:pPr>
              <a:spcAft>
                <a:spcPts val="1000"/>
              </a:spcAft>
              <a:defRPr sz="1000">
                <a:solidFill>
                  <a:srgbClr val="2D3748"/>
                </a:solidFill>
              </a:defRPr>
            </a:pPr>
            <a:r>
              <a:t>   Households where both parents completed tertiary education average 12.50 to 12.96, compared to 9.95 for primary-educated households.</a:t>
            </a:r>
          </a:p>
          <a:p>
            <a:pPr>
              <a:spcAft>
                <a:spcPts val="200"/>
              </a:spcAft>
              <a:defRPr sz="1200" b="1">
                <a:solidFill>
                  <a:srgbClr val="1A365D"/>
                </a:solidFill>
              </a:defRPr>
            </a:pPr>
            <a:r>
              <a:t>•  Occupational Disparities</a:t>
            </a:r>
          </a:p>
          <a:p>
            <a:pPr>
              <a:spcAft>
                <a:spcPts val="1000"/>
              </a:spcAft>
              <a:defRPr sz="1000">
                <a:solidFill>
                  <a:srgbClr val="2D3748"/>
                </a:solidFill>
              </a:defRPr>
            </a:pPr>
            <a:r>
              <a:t>   Children of healthcare (12.15) and teaching (11.05) professionals achieve significantly higher grades than at-home parents (9.15).</a:t>
            </a:r>
          </a:p>
          <a:p>
            <a:pPr>
              <a:spcAft>
                <a:spcPts val="200"/>
              </a:spcAft>
              <a:defRPr sz="1200" b="1">
                <a:solidFill>
                  <a:srgbClr val="1A365D"/>
                </a:solidFill>
              </a:defRPr>
            </a:pPr>
            <a:r>
              <a:t>•  Subject-Specific Gender Gaps</a:t>
            </a:r>
          </a:p>
          <a:p>
            <a:pPr>
              <a:spcAft>
                <a:spcPts val="1000"/>
              </a:spcAft>
              <a:defRPr sz="1000">
                <a:solidFill>
                  <a:srgbClr val="2D3748"/>
                </a:solidFill>
              </a:defRPr>
            </a:pPr>
            <a:r>
              <a:t>   Male students score higher in Mathematics (10.91 vs. 9.97); female students lead in Portuguese Language (12.25 vs. 11.41).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663440"/>
          </a:xfrm>
          <a:prstGeom prst="roundRect">
            <a:avLst/>
          </a:prstGeom>
          <a:solidFill>
            <a:srgbClr val="F7FAFC"/>
          </a:solidFill>
          <a:ln w="1524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16_custom_parent_edu_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828800"/>
            <a:ext cx="4846320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2B6CB0"/>
                </a:solidFill>
              </a:defRPr>
            </a:pPr>
            <a:r>
              <a:t>STUDENT PERFORMANCE &amp; ACADEMIC ANALYTICS</a:t>
            </a:r>
          </a:p>
          <a:p>
            <a:pPr>
              <a:defRPr sz="2200" b="1">
                <a:solidFill>
                  <a:srgbClr val="1A365D"/>
                </a:solidFill>
              </a:defRPr>
            </a:pPr>
            <a:r>
              <a:t>Institutional Action Plan &amp; Strategic Recommendations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10728655" cy="777240"/>
          </a:xfrm>
          <a:prstGeom prst="roundRect">
            <a:avLst/>
          </a:prstGeom>
          <a:solidFill>
            <a:srgbClr val="F7FAFC"/>
          </a:solidFill>
          <a:ln w="1524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755648"/>
            <a:ext cx="10149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A365D"/>
                </a:solidFill>
              </a:defRPr>
            </a:pPr>
            <a:r>
              <a:t>1. Term 1 Early Warning Triggers — </a:t>
            </a:r>
            <a:r>
              <a:rPr sz="1100" b="0">
                <a:solidFill>
                  <a:srgbClr val="2D3748"/>
                </a:solidFill>
              </a:rPr>
              <a:t>Deploy automated alerts for any student scoring G1 &lt;= 9 or with prior failures to mandate tutoring before performance locks in by Term 2.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560320"/>
            <a:ext cx="10728655" cy="777240"/>
          </a:xfrm>
          <a:prstGeom prst="roundRect">
            <a:avLst/>
          </a:prstGeom>
          <a:solidFill>
            <a:srgbClr val="F7FAFC"/>
          </a:solidFill>
          <a:ln w="1524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670048"/>
            <a:ext cx="10149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A365D"/>
                </a:solidFill>
              </a:defRPr>
            </a:pPr>
            <a:r>
              <a:t>2. Real-Time Disengagement Intercepts — </a:t>
            </a:r>
            <a:r>
              <a:rPr sz="1100" b="0">
                <a:solidFill>
                  <a:srgbClr val="2D3748"/>
                </a:solidFill>
              </a:rPr>
              <a:t>Monitor consecutive unexcused absences between Terms 1 and 2 to intercept course abandonment prior to exam non-attendance.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474720"/>
            <a:ext cx="10728655" cy="777240"/>
          </a:xfrm>
          <a:prstGeom prst="roundRect">
            <a:avLst/>
          </a:prstGeom>
          <a:solidFill>
            <a:srgbClr val="F7FAFC"/>
          </a:solidFill>
          <a:ln w="1524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3584448"/>
            <a:ext cx="10149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A365D"/>
                </a:solidFill>
              </a:defRPr>
            </a:pPr>
            <a:r>
              <a:t>3. Restructure Institutional Support — </a:t>
            </a:r>
            <a:r>
              <a:rPr sz="1100" b="0">
                <a:solidFill>
                  <a:srgbClr val="2D3748"/>
                </a:solidFill>
              </a:rPr>
              <a:t>Re-engineer 'schoolsup' from late-stage corrective assignments into proactive small-group mastery clinics early in the year.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389120"/>
            <a:ext cx="10728655" cy="777240"/>
          </a:xfrm>
          <a:prstGeom prst="roundRect">
            <a:avLst/>
          </a:prstGeom>
          <a:solidFill>
            <a:srgbClr val="F7FAFC"/>
          </a:solidFill>
          <a:ln w="1524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498848"/>
            <a:ext cx="10149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A365D"/>
                </a:solidFill>
              </a:defRPr>
            </a:pPr>
            <a:r>
              <a:t>4. Study Efficiency &amp; Active Recall — </a:t>
            </a:r>
            <a:r>
              <a:rPr sz="1100" b="0">
                <a:solidFill>
                  <a:srgbClr val="2D3748"/>
                </a:solidFill>
              </a:rPr>
              <a:t>Train students on active recall and problem-solving techniques rather than unguided, passive study volume beyond 10 hours/week.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303520"/>
            <a:ext cx="10728655" cy="777240"/>
          </a:xfrm>
          <a:prstGeom prst="roundRect">
            <a:avLst/>
          </a:prstGeom>
          <a:solidFill>
            <a:srgbClr val="F7FAFC"/>
          </a:solidFill>
          <a:ln w="1524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5413248"/>
            <a:ext cx="10149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A365D"/>
                </a:solidFill>
              </a:defRPr>
            </a:pPr>
            <a:r>
              <a:t>5. First-Generation Scholar Equity — </a:t>
            </a:r>
            <a:r>
              <a:rPr sz="1100" b="0">
                <a:solidFill>
                  <a:srgbClr val="2D3748"/>
                </a:solidFill>
              </a:rPr>
              <a:t>Establish structured faculty study halls and subsidized exam clinics for students whose parents lack higher education degrees.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